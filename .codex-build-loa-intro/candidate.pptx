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e90562157d4bec" /><Relationship Type="http://schemas.openxmlformats.org/officeDocument/2006/relationships/extended-properties" Target="/docProps/app.xml" Id="R237c1bda9a9f4db8" /><Relationship Type="http://schemas.openxmlformats.org/officeDocument/2006/relationships/officeDocument" Target="/ppt/presentation.xml" Id="Rc6b81107526a47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976da6c3b642f4"/>
  </p:sldMasterIdLst>
  <p:notesMasterIdLst>
    <p:notesMasterId xmlns:r="http://schemas.openxmlformats.org/officeDocument/2006/relationships" r:id="R9d4c019f05224719"/>
  </p:notesMasterIdLst>
  <p:sldIdLst>
    <p:sldId xmlns:r="http://schemas.openxmlformats.org/officeDocument/2006/relationships" id="256" r:id="R3427c1f8bb954323"/>
    <p:sldId xmlns:r="http://schemas.openxmlformats.org/officeDocument/2006/relationships" id="257" r:id="Rb3df469fd4dd4142"/>
    <p:sldId xmlns:r="http://schemas.openxmlformats.org/officeDocument/2006/relationships" id="258" r:id="R423c85009cc048d6"/>
    <p:sldId xmlns:r="http://schemas.openxmlformats.org/officeDocument/2006/relationships" id="259" r:id="R1c93f65aa0e94d65"/>
    <p:sldId xmlns:r="http://schemas.openxmlformats.org/officeDocument/2006/relationships" id="260" r:id="R16acff75ee734a21"/>
    <p:sldId xmlns:r="http://schemas.openxmlformats.org/officeDocument/2006/relationships" id="261" r:id="Re0c37f328b4b4fee"/>
    <p:sldId xmlns:r="http://schemas.openxmlformats.org/officeDocument/2006/relationships" id="262" r:id="R2c4bf37809244150"/>
    <p:sldId xmlns:r="http://schemas.openxmlformats.org/officeDocument/2006/relationships" id="263" r:id="R0216868686a944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c9e4dce66f4775" /><Relationship Type="http://schemas.openxmlformats.org/officeDocument/2006/relationships/slideMaster" Target="/ppt/slideMasters/slideMaster1.xml" Id="R0e976da6c3b642f4" /><Relationship Type="http://schemas.openxmlformats.org/officeDocument/2006/relationships/notesMaster" Target="/ppt/notesMasters/notesMaster1.xml" Id="R9d4c019f05224719" /><Relationship Type="http://schemas.openxmlformats.org/officeDocument/2006/relationships/presProps" Target="/ppt/presProps.xml" Id="Re89ff9e7fff64768" /><Relationship Type="http://schemas.openxmlformats.org/officeDocument/2006/relationships/tableStyles" Target="/ppt/tableStyles.xml" Id="R87b449542909454c" /><Relationship Type="http://schemas.openxmlformats.org/officeDocument/2006/relationships/slide" Target="/ppt/slides/slide1.xml" Id="R3427c1f8bb954323" /><Relationship Type="http://schemas.openxmlformats.org/officeDocument/2006/relationships/slide" Target="/ppt/slides/slide2.xml" Id="Rb3df469fd4dd4142" /><Relationship Type="http://schemas.openxmlformats.org/officeDocument/2006/relationships/slide" Target="/ppt/slides/slide3.xml" Id="R423c85009cc048d6" /><Relationship Type="http://schemas.openxmlformats.org/officeDocument/2006/relationships/slide" Target="/ppt/slides/slide4.xml" Id="R1c93f65aa0e94d65" /><Relationship Type="http://schemas.openxmlformats.org/officeDocument/2006/relationships/slide" Target="/ppt/slides/slide5.xml" Id="R16acff75ee734a21" /><Relationship Type="http://schemas.openxmlformats.org/officeDocument/2006/relationships/slide" Target="/ppt/slides/slide6.xml" Id="Re0c37f328b4b4fee" /><Relationship Type="http://schemas.openxmlformats.org/officeDocument/2006/relationships/slide" Target="/ppt/slides/slide7.xml" Id="R2c4bf37809244150" /><Relationship Type="http://schemas.openxmlformats.org/officeDocument/2006/relationships/slide" Target="/ppt/slides/slide8.xml" Id="R0216868686a944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339d1f287a41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a1a3f2ffb44763" /><Relationship Type="http://schemas.openxmlformats.org/officeDocument/2006/relationships/notesMaster" Target="/ppt/notesMasters/notesMaster1.xml" Id="Rd22c6a038ba943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4ff37ade0e40be" /><Relationship Type="http://schemas.openxmlformats.org/officeDocument/2006/relationships/notesMaster" Target="/ppt/notesMasters/notesMaster1.xml" Id="R1469950f97434c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6087c5ff38480e" /><Relationship Type="http://schemas.openxmlformats.org/officeDocument/2006/relationships/notesMaster" Target="/ppt/notesMasters/notesMaster1.xml" Id="Rb9bc6a2795cb4e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1a4698e4514c1e" /><Relationship Type="http://schemas.openxmlformats.org/officeDocument/2006/relationships/notesMaster" Target="/ppt/notesMasters/notesMaster1.xml" Id="R1eda224f0d3941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a0eeaf32554f3e" /><Relationship Type="http://schemas.openxmlformats.org/officeDocument/2006/relationships/notesMaster" Target="/ppt/notesMasters/notesMaster1.xml" Id="R308efd38ee7e4b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94613a82454d70" /><Relationship Type="http://schemas.openxmlformats.org/officeDocument/2006/relationships/notesMaster" Target="/ppt/notesMasters/notesMaster1.xml" Id="Ra392909bbc614c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e5feb2a9b84cfb" /><Relationship Type="http://schemas.openxmlformats.org/officeDocument/2006/relationships/notesMaster" Target="/ppt/notesMasters/notesMaster1.xml" Id="R4f74aa2b90de4a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3b21a076e74f91" /><Relationship Type="http://schemas.openxmlformats.org/officeDocument/2006/relationships/notesMaster" Target="/ppt/notesMasters/notesMaster1.xml" Id="Recc0159a32484d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app as a desktop workspace for managing LOA land records, applying reference information, and reviewing auditable changes.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four functions describe the day-to-day value of the application without implying that all information is automatically synchronized. Users review and explicitly save staged changes.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Finance and Conversion maintain reference data used in account work. Settings holds Dataverse connection and table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dashboard is intended for scanning operational status. Filters can focus the related account view, and the weekly changes area provides a direct search over recent activity.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Update from References uses the approved comparison scope: Total Contract Price, Payment Deductible, and Conversion Status. Balance and % Paid are calculated from the financial values and saved, but not listed as independent changed fields.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Acquisition Sub-Level database field is optional at Dataverse schema level so existing records may remain blank. The app requires it only when creating a new entry. Account Status is a derived display value, not a separate stored or logged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process diagram is editable. If reviewing an update, compare the staged values before saving. Reference updates do not alter the Acquisition Sub-Level.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Entry Logs are fetched from Dataverse and held in application memory for the open session. A refresh failure should preserve the displayed results and show a Could not refresh notice. Revert affects only eligible field changes; calculated Balance and % Paid are excluded.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d703b2f41946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1a5d084fb34313" /><Relationship Type="http://schemas.openxmlformats.org/officeDocument/2006/relationships/slideLayout" Target="/ppt/slideLayouts/slideLayout1.xml" Id="R5fe9bdbad1724e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e9bdbad1724e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2f600688a45ec" /><Relationship Type="http://schemas.openxmlformats.org/officeDocument/2006/relationships/notesSlide" Target="/ppt/notesSlides/notesSlide1.xml" Id="R2b120e8bd6f44c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0e53f67c542ff" /><Relationship Type="http://schemas.openxmlformats.org/officeDocument/2006/relationships/notesSlide" Target="/ppt/notesSlides/notesSlide2.xml" Id="R6eb334f1ccb04c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a9ac62ecb4a24" /><Relationship Type="http://schemas.openxmlformats.org/officeDocument/2006/relationships/notesSlide" Target="/ppt/notesSlides/notesSlide3.xml" Id="R4d84486dc0bb43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5e992a40f489c" /><Relationship Type="http://schemas.openxmlformats.org/officeDocument/2006/relationships/notesSlide" Target="/ppt/notesSlides/notesSlide4.xml" Id="Rd6fdce26ab3d4f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0c0ca63fd46ba" /><Relationship Type="http://schemas.openxmlformats.org/officeDocument/2006/relationships/notesSlide" Target="/ppt/notesSlides/notesSlide5.xml" Id="Raeb50e4fc2eb48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574d847734ce4" /><Relationship Type="http://schemas.openxmlformats.org/officeDocument/2006/relationships/notesSlide" Target="/ppt/notesSlides/notesSlide6.xml" Id="Rd01f3b846f1c4c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7d726537545e5" /><Relationship Type="http://schemas.openxmlformats.org/officeDocument/2006/relationships/notesSlide" Target="/ppt/notesSlides/notesSlide7.xml" Id="Ra18e1f4fb78e46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d41b73dcf4787" /><Relationship Type="http://schemas.openxmlformats.org/officeDocument/2006/relationships/notesSlide" Target="/ppt/notesSlides/notesSlide8.xml" Id="R39ffbe39b17346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8A687-C5CD-45AF-ACA5-8A0BD9EC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2500"/>
            <a:ext cx="762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B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B34C8-3622-4D2A-9706-B415FBBF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192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LOA Monitoring 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21583-28B5-46B2-9F66-4C2F7BAE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241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Introduction, core functions, and process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E1301-CAD5-4191-985F-AB80C0D7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76650"/>
            <a:ext cx="695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2647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CC7B2-F74B-4448-93D6-6CA862C9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433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B5D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8B5D7"/>
                </a:solidFill>
                <a:latin typeface="Arial"/>
                <a:ea typeface="Arial"/>
                <a:cs typeface="Arial"/>
              </a:rPr>
              <a:t>Land operations workspace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9DC5F-0289-4AF1-90D7-B3C58E76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196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Land Master  /  Reference data  /  Entry Logs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C8E55-0E9B-4B37-A91F-E6247DA5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5C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DB5C7"/>
                </a:solidFill>
                <a:latin typeface="Arial"/>
                <a:ea typeface="Arial"/>
                <a:cs typeface="Arial"/>
              </a:rPr>
              <a:t>A practical guide to reviewing accounts and recording changes</a:t>
            </a:r>
          </a:p>
        </p:txBody>
      </p:sp>
    </p:spTree>
    <p:extLst>
      <p:ext uri="{BB962C8B-B14F-4D97-AF65-F5344CB8AC3E}">
        <p14:creationId xmlns:p14="http://schemas.microsoft.com/office/powerpoint/2010/main" val="4962960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F958E4-84B4-4B0B-972E-81FDD59E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the tool supports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B9CEB-352A-4F9B-84B3-EC9E5D2C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B5D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C09DB-455D-4614-8B97-CBFD9D32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7C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7C92"/>
                </a:solidFill>
                <a:latin typeface="Arial"/>
                <a:ea typeface="Arial"/>
                <a:cs typeface="Arial"/>
              </a:rPr>
              <a:t>LOA MONITORING TOOL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CDD4E-84A8-4872-B453-69FF78F3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37C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7C9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2DA5A-18B9-4309-96F0-E5603A1E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One account workspace from current record to change history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A0EA4-A3AB-408D-A3E0-4AD5EAF3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00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C9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C92"/>
                </a:solidFill>
                <a:latin typeface="Arial"/>
                <a:ea typeface="Arial"/>
                <a:cs typeface="Arial"/>
              </a:rPr>
              <a:t>LOA Monitoring brings land-account records together with finance and conversion references, then keeps a traceable record of saved changes.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DC155-9F84-484A-8DE6-A378428B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91C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91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7D2D0-6CAD-4F40-8D74-5D1D174F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E3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ED376-0674-4B12-8B29-45B5A0B1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Review accounts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E227E-C7FE-4443-9B18-A9E61554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C9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C92"/>
                </a:solidFill>
                <a:latin typeface="Arial"/>
                <a:ea typeface="Arial"/>
                <a:cs typeface="Arial"/>
              </a:rPr>
              <a:t>Search and filter Land Master records.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32BDB1-EBB6-42D9-A122-854B51F3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6712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91C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91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F8BBB-E40D-433A-9E12-0B1F61E7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7195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E3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38968-CD3F-4C82-8EC9-F5A36AF5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33875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Apply references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0DF97F-6EDD-4E10-85EE-11EB5CFF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C9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C92"/>
                </a:solidFill>
                <a:latin typeface="Arial"/>
                <a:ea typeface="Arial"/>
                <a:cs typeface="Arial"/>
              </a:rPr>
              <a:t>Compare price, deductible, and conversion status.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C9C87-F309-4374-AA7E-1C4D81CA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6712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91C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91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0FB71-C9A3-44D2-93B0-994AFB49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7195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E3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53E77-03F8-49F0-B747-F72862D8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33875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Track progress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1CD395-EF73-440C-AFAC-0736C084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10125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C9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C92"/>
                </a:solidFill>
                <a:latin typeface="Arial"/>
                <a:ea typeface="Arial"/>
                <a:cs typeface="Arial"/>
              </a:rPr>
              <a:t>Monitor payment, mode, and conversion summaries.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81CB8D-7EED-4E50-BB59-D35F6EA7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6712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91C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91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2FDE94-9D6F-42FA-BAF3-E072A237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7195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E3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937512-81C9-4047-B69D-43725C9C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33875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Keep an audit trail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39A9FA-75E5-4C25-8A4B-2EAE61C9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10125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C9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C92"/>
                </a:solidFill>
                <a:latin typeface="Arial"/>
                <a:ea typeface="Arial"/>
                <a:cs typeface="Arial"/>
              </a:rPr>
              <a:t>See which field changed, when, and from what value.</a:t>
            </a:r>
          </a:p>
        </p:txBody>
      </p:sp>
    </p:spTree>
    <p:extLst>
      <p:ext uri="{BB962C8B-B14F-4D97-AF65-F5344CB8AC3E}">
        <p14:creationId xmlns:p14="http://schemas.microsoft.com/office/powerpoint/2010/main" val="20009240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56DFA9-EA68-4C12-AF29-48AA2BB0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Workspace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424EA-BD34-42AF-8B66-ED213631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B5D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97039-5089-4464-99A1-D19BD691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7C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7C92"/>
                </a:solidFill>
                <a:latin typeface="Arial"/>
                <a:ea typeface="Arial"/>
                <a:cs typeface="Arial"/>
              </a:rPr>
              <a:t>LOA MONITORING TOOL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7832D-B92D-4559-A30B-67E76861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37C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7C9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FB75C-0120-47C4-A5BD-55F19D58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91C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91C8"/>
                </a:solidFill>
                <a:latin typeface="Arial"/>
                <a:ea typeface="Arial"/>
                <a:cs typeface="Arial"/>
              </a:rPr>
              <a:t>Daily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BEDE0-98BD-46D0-9D21-ADBD6C93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65DB7-9139-4ACC-AC16-A060D864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7170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1384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1384F"/>
                </a:solidFill>
                <a:latin typeface="Arial"/>
                <a:ea typeface="Arial"/>
                <a:cs typeface="Arial"/>
              </a:rPr>
              <a:t>Account mix, payment progress, conversion progress, and recent changes.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2313B-12FD-4D78-9BD4-922139DA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6E3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975D05-C875-4ABB-9F40-4DC7FC3A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Land Master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7EAB6-42B7-4A90-B5E3-B2F9CD82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956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1384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1384F"/>
                </a:solidFill>
                <a:latin typeface="Arial"/>
                <a:ea typeface="Arial"/>
                <a:cs typeface="Arial"/>
              </a:rPr>
              <a:t>Main account table for search, review, entry, and updates.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46557-F201-475E-82D0-636E9683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6E3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BE762-F450-4013-8652-A8041AA9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Entry Logs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49C0C-A04B-4297-81EC-EA01E1D1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1960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1384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1384F"/>
                </a:solidFill>
                <a:latin typeface="Arial"/>
                <a:ea typeface="Arial"/>
                <a:cs typeface="Arial"/>
              </a:rPr>
              <a:t>Field-level history read from the Dataverse logs table.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4D3BCA-BC14-4DA7-B502-7FF1735F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E3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D18843-87CB-481A-AC29-9CD26962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91C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91C8"/>
                </a:solidFill>
                <a:latin typeface="Arial"/>
                <a:ea typeface="Arial"/>
                <a:cs typeface="Arial"/>
              </a:rPr>
              <a:t>Reference &amp; setup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BA964-0A9C-4348-AA6D-500F45AC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724525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Finance  ·  Conversion  ·  Settings</a:t>
            </a:r>
          </a:p>
        </p:txBody>
      </p:sp>
    </p:spTree>
    <p:extLst>
      <p:ext uri="{BB962C8B-B14F-4D97-AF65-F5344CB8AC3E}">
        <p14:creationId xmlns:p14="http://schemas.microsoft.com/office/powerpoint/2010/main" val="8884195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254BE3-F6D2-4CFF-8A4F-804C5BC7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Overview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38C89-17F2-487F-BB8B-58BD635D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B5D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70FD8-B246-436E-8A9F-19FE0B07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7C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7C92"/>
                </a:solidFill>
                <a:latin typeface="Arial"/>
                <a:ea typeface="Arial"/>
                <a:cs typeface="Arial"/>
              </a:rPr>
              <a:t>LOA MONITORING TOOL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72F63-23BF-46F5-9E23-D9040733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37C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7C9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C3B6D-0997-4DED-9D19-A081FD37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quick read on account mix, payment, and conversion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D4EB9-B6E9-4ACF-BC53-C8154386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91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1C8"/>
                </a:solidFill>
                <a:latin typeface="Arial"/>
                <a:ea typeface="Arial"/>
                <a:cs typeface="Arial"/>
              </a:rPr>
              <a:t>ACCOUNTS BY MODE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2901D-30B1-4AD1-BED3-683D88DD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9077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84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384F"/>
                </a:solidFill>
                <a:latin typeface="Arial"/>
                <a:ea typeface="Arial"/>
                <a:cs typeface="Arial"/>
              </a:rPr>
              <a:t>See how the account portfolio is distributed across modes. Select a mode to focus the account list.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6C5BC1-BB28-4122-83EE-314CD9AE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E3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162FE-042E-4B1D-A961-BC2574EB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9A6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9A66"/>
                </a:solidFill>
                <a:latin typeface="Arial"/>
                <a:ea typeface="Arial"/>
                <a:cs typeface="Arial"/>
              </a:rPr>
              <a:t>PAYMENT PROGRESS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2B56A-9985-4FB4-A402-35268072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2422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84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384F"/>
                </a:solidFill>
                <a:latin typeface="Arial"/>
                <a:ea typeface="Arial"/>
                <a:cs typeface="Arial"/>
              </a:rPr>
              <a:t>Review contract value, payments deducted, outstanding balance, and settlement distribution.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AF0F4-A5D2-48E5-9A86-F1A1047C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E3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4A1BC-F780-4F64-A2FB-AEA040FD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91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1C8"/>
                </a:solidFill>
                <a:latin typeface="Arial"/>
                <a:ea typeface="Arial"/>
                <a:cs typeface="Arial"/>
              </a:rPr>
              <a:t>CONVERSION PROGRESS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E93370-372C-42F8-9DF4-4E0C5DDF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5767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84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384F"/>
                </a:solidFill>
                <a:latin typeface="Arial"/>
                <a:ea typeface="Arial"/>
                <a:cs typeface="Arial"/>
              </a:rPr>
              <a:t>Track DAR status counts, secured progress, and applied area.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0F7636-40F8-4164-A088-B704E708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E3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AC6BCF-3034-4392-8B3A-2C42D934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91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1C8"/>
                </a:solidFill>
                <a:latin typeface="Arial"/>
                <a:ea typeface="Arial"/>
                <a:cs typeface="Arial"/>
              </a:rPr>
              <a:t>WEEKLY CHANGES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0786CC-C5C2-407C-91AC-2DBF346D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9112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84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384F"/>
                </a:solidFill>
                <a:latin typeface="Arial"/>
                <a:ea typeface="Arial"/>
                <a:cs typeface="Arial"/>
              </a:rPr>
              <a:t>Search recent audit activity by account or changed field.</a:t>
            </a:r>
          </a:p>
        </p:txBody>
      </p:sp>
    </p:spTree>
    <p:extLst>
      <p:ext uri="{BB962C8B-B14F-4D97-AF65-F5344CB8AC3E}">
        <p14:creationId xmlns:p14="http://schemas.microsoft.com/office/powerpoint/2010/main" val="20424940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3F3CB-1B2C-4925-942D-E8D305D1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Land Master account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4482E-0879-4DD7-BCCE-BBDF83BE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B5D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5B85F-0A16-4DE3-BA51-B7823623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7C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7C92"/>
                </a:solidFill>
                <a:latin typeface="Arial"/>
                <a:ea typeface="Arial"/>
                <a:cs typeface="Arial"/>
              </a:rPr>
              <a:t>LOA MONITORING TOOL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32290-D5DB-4F26-A231-51243ECA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37C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7C9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77236-B33C-4581-B19C-D0FEC3A8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account table is the working surface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AC56A-BAAF-45B7-B2EA-F423CCBD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71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C9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C92"/>
                </a:solidFill>
                <a:latin typeface="Arial"/>
                <a:ea typeface="Arial"/>
                <a:cs typeface="Arial"/>
              </a:rPr>
              <a:t>Filter the list, inspect a record, then make a focused change or stage a reference update.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E8DB0-E5AE-4B75-BA89-A7FBAE4E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91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1C8"/>
                </a:solidFill>
                <a:latin typeface="Arial"/>
                <a:ea typeface="Arial"/>
                <a:cs typeface="Arial"/>
              </a:rPr>
              <a:t>Reference update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6350C-DB0C-4E6B-8EAD-25A533C0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000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84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84F"/>
                </a:solidFill>
                <a:latin typeface="Arial"/>
                <a:ea typeface="Arial"/>
                <a:cs typeface="Arial"/>
              </a:rPr>
              <a:t>Total Contract Price</a:t>
            </a:r>
          </a:p>
          <a:p xmlns:a="http://schemas.openxmlformats.org/drawingml/2006/main">
            <a:pPr algn="l">
              <a:defRPr sz="1950" b="1">
                <a:solidFill>
                  <a:srgbClr val="21384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84F"/>
                </a:solidFill>
                <a:latin typeface="Arial"/>
                <a:ea typeface="Arial"/>
                <a:cs typeface="Arial"/>
              </a:rPr>
              <a:t>Payment Deductible</a:t>
            </a:r>
          </a:p>
          <a:p xmlns:a="http://schemas.openxmlformats.org/drawingml/2006/main">
            <a:pPr algn="l">
              <a:defRPr sz="1950" b="1">
                <a:solidFill>
                  <a:srgbClr val="21384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84F"/>
                </a:solidFill>
                <a:latin typeface="Arial"/>
                <a:ea typeface="Arial"/>
                <a:cs typeface="Arial"/>
              </a:rPr>
              <a:t>Conversion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6C440-35A8-4DB2-B5AD-2B0D1B02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0" cy="2400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DCFD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F711A4-773C-438C-B9EF-89D8EE6A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003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9A6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9A66"/>
                </a:solidFill>
                <a:latin typeface="Arial"/>
                <a:ea typeface="Arial"/>
                <a:cs typeface="Arial"/>
              </a:rPr>
              <a:t>Calculated financial fields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2D185-6B39-430A-8586-760DF696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43300"/>
            <a:ext cx="5286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1384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1384F"/>
                </a:solidFill>
                <a:latin typeface="Arial"/>
                <a:ea typeface="Arial"/>
                <a:cs typeface="Arial"/>
              </a:rPr>
              <a:t>Balance and % Paid recalculate from price and deductible. They are saved with the account update, but excluded as separate fields in the audit trail.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BE8FC-AC97-4F37-8AB6-8B500E35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1043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3E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EF75C-8B13-48BE-8593-2E51D3C4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Changes remain staged until the user selects “Save to Dataverse”.</a:t>
            </a:r>
          </a:p>
        </p:txBody>
      </p:sp>
    </p:spTree>
    <p:extLst>
      <p:ext uri="{BB962C8B-B14F-4D97-AF65-F5344CB8AC3E}">
        <p14:creationId xmlns:p14="http://schemas.microsoft.com/office/powerpoint/2010/main" val="7867939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64E8E4-DB42-424C-8C16-0C9569B0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Reference data and new entries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8D5CA-F54A-47D2-B5FC-2AF26B63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B5D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207F2-807F-4AAD-A568-08D40FC3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7C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7C92"/>
                </a:solidFill>
                <a:latin typeface="Arial"/>
                <a:ea typeface="Arial"/>
                <a:cs typeface="Arial"/>
              </a:rPr>
              <a:t>LOA MONITORING TOOL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F1627-B9CF-4460-B195-6D7BB690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37C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7C9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B23A4-B324-41FC-A764-EE9AF0E6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Reference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CC394-528A-4457-8AEB-B5940919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91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91C8"/>
                </a:solidFill>
                <a:latin typeface="Arial"/>
                <a:ea typeface="Arial"/>
                <a:cs typeface="Arial"/>
              </a:rPr>
              <a:t>Finance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BE29C-8E27-493B-B7FA-F9D39A8D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47900"/>
            <a:ext cx="352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884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1384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1384F"/>
                </a:solidFill>
                <a:latin typeface="Arial"/>
                <a:ea typeface="Arial"/>
                <a:cs typeface="Arial"/>
              </a:rPr>
              <a:t>Holds financial reference values used during account lookup and reference updates.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C4A84-B9B9-400D-AA85-AB946B4B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91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91C8"/>
                </a:solidFill>
                <a:latin typeface="Arial"/>
                <a:ea typeface="Arial"/>
                <a:cs typeface="Arial"/>
              </a:rPr>
              <a:t>Conversion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5DCB8-75A4-4CD7-877A-F402C2A8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81350"/>
            <a:ext cx="352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15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1384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1384F"/>
                </a:solidFill>
                <a:latin typeface="Arial"/>
                <a:ea typeface="Arial"/>
                <a:cs typeface="Arial"/>
              </a:rPr>
              <a:t>Holds DAR status values used to update and monitor conversion progress.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9867D-92F8-4061-9749-F26A1ECE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523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37C9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37C92"/>
                </a:solidFill>
                <a:latin typeface="Arial"/>
                <a:ea typeface="Arial"/>
                <a:cs typeface="Arial"/>
              </a:rPr>
              <a:t>Load or upload reference data, review it, then sync it to Dataverse when appropriate.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0CC11-4102-4935-BF7C-89CD9C20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81150"/>
            <a:ext cx="0" cy="430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E3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92C73D-8845-496B-AE01-F4484514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716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New account entry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61503-7DC0-4384-8FE8-6FF87473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4790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84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384F"/>
                </a:solidFill>
                <a:latin typeface="Arial"/>
                <a:ea typeface="Arial"/>
                <a:cs typeface="Arial"/>
              </a:rPr>
              <a:t>Enter account identifiers and details. Finance lookup can fill matching financial values.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FA43B2-C5C7-4E70-9B1C-E3486A69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91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91C8"/>
                </a:solidFill>
                <a:latin typeface="Arial"/>
                <a:ea typeface="Arial"/>
                <a:cs typeface="Arial"/>
              </a:rPr>
              <a:t>Acquisition Sub-Level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BBA68-6362-4D1A-AB6E-AC3D4050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57600"/>
            <a:ext cx="447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1384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1384F"/>
                </a:solidFill>
                <a:latin typeface="Arial"/>
                <a:ea typeface="Arial"/>
                <a:cs typeface="Arial"/>
              </a:rPr>
              <a:t>Required for new records. Account Status is derived from the selected code and shown in Land Master and the entry form.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BAC3EC-4FA4-4FB2-827E-6A772077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05375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9A6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9A66"/>
                </a:solidFill>
                <a:latin typeface="Arial"/>
                <a:ea typeface="Arial"/>
                <a:cs typeface="Arial"/>
              </a:rPr>
              <a:t>Saving creates the Land Master record and an Initial Entry audit log.</a:t>
            </a:r>
          </a:p>
        </p:txBody>
      </p:sp>
    </p:spTree>
    <p:extLst>
      <p:ext uri="{BB962C8B-B14F-4D97-AF65-F5344CB8AC3E}">
        <p14:creationId xmlns:p14="http://schemas.microsoft.com/office/powerpoint/2010/main" val="18990224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59A978-EAC1-49A9-A808-022B40E7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End-to-end update 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56703-0452-49D9-857A-024DAE8D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B5D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2AE26-8F70-4D4E-A0DD-6D897881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DC5D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DC5D6"/>
                </a:solidFill>
                <a:latin typeface="Arial"/>
                <a:ea typeface="Arial"/>
                <a:cs typeface="Arial"/>
              </a:rPr>
              <a:t>LOA MONITORING TOOL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4381F-F895-418C-AC08-2169DFE0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DC5D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DC5D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2B8CC-15F1-451A-92A9-77A38D70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From reference comparison to visible audit history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EFB2A-63F1-489C-BBEA-23F180C2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657350" cy="2076450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183B56"/>
          </a:solidFill>
          <a:ln xmlns:a="http://schemas.openxmlformats.org/drawingml/2006/main" w="14288">
            <a:solidFill>
              <a:srgbClr val="3D668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EEDDB-006C-4292-B3DF-A5EA622D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91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D24C1-E587-4C1C-BE48-53C3F53B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1276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Load account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0EC03-DB68-4CF3-889E-24673AC4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1276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Land Master from Dataverse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F2B15-30E9-4CFB-8FE0-CEF037BE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857500"/>
            <a:ext cx="1657350" cy="2076450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183B56"/>
          </a:solidFill>
          <a:ln xmlns:a="http://schemas.openxmlformats.org/drawingml/2006/main" w="14288">
            <a:solidFill>
              <a:srgbClr val="3D668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5398E-3FEE-4053-BB82-C6E6FBA0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48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91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5697BB-B7C2-483A-B017-34E83EDE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600450"/>
            <a:ext cx="1276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Load references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541CC-D7D1-4492-BC7C-92358E3C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267200"/>
            <a:ext cx="1276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Finance and Conversion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6F28C-04CD-45E6-B3BE-91C2F346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57500"/>
            <a:ext cx="1657350" cy="2076450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183B56"/>
          </a:solidFill>
          <a:ln xmlns:a="http://schemas.openxmlformats.org/drawingml/2006/main" w="14288">
            <a:solidFill>
              <a:srgbClr val="3D668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B717D-3E5A-4390-A033-E1F59A0F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48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91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9AACDB-86AF-4C70-8B19-50FBDBCC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00450"/>
            <a:ext cx="1276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Compare values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956D39-F72C-4E5B-9BB7-EA8ECA3E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67200"/>
            <a:ext cx="1276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31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Price, deductible, DAR status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5764C8-E289-4A67-AA12-E528BB5E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857500"/>
            <a:ext cx="1657350" cy="2076450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183B56"/>
          </a:solidFill>
          <a:ln xmlns:a="http://schemas.openxmlformats.org/drawingml/2006/main" w="14288">
            <a:solidFill>
              <a:srgbClr val="3D668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A46B85-8134-452D-9FC7-97CEBFBD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048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91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58D890-8985-448A-9AE6-B947DFF5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00450"/>
            <a:ext cx="1276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changes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FD196D-3FE8-4A2D-AFB2-055CBFBF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267200"/>
            <a:ext cx="1276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Changed rows are staged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2AE225-D451-47D9-AA8B-20EE31A2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57500"/>
            <a:ext cx="1657350" cy="2076450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183B56"/>
          </a:solidFill>
          <a:ln xmlns:a="http://schemas.openxmlformats.org/drawingml/2006/main" w="14288">
            <a:solidFill>
              <a:srgbClr val="3D668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65E36E-E56D-4D89-A040-9A9ABB2D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91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5E57E2-5C03-49B4-9345-403D52CE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0450"/>
            <a:ext cx="1276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update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2BCD2A-2BD6-4B19-94F6-D01049BE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67200"/>
            <a:ext cx="1276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Master values are written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BCEAE6-F214-491F-AA62-02C215EE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857500"/>
            <a:ext cx="1657350" cy="2076450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183B56"/>
          </a:solidFill>
          <a:ln xmlns:a="http://schemas.openxmlformats.org/drawingml/2006/main" w="14288">
            <a:solidFill>
              <a:srgbClr val="3D668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6DEB4A-997A-4506-8269-D2873E6D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048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91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B4AD9B-06D2-45E2-800E-2CBBCD1C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600450"/>
            <a:ext cx="1276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 Entry Logs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9AF3F6-C3F8-48ED-BDCE-8B726845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267200"/>
            <a:ext cx="1276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6D8E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8E5"/>
                </a:solidFill>
                <a:latin typeface="Arial"/>
                <a:ea typeface="Arial"/>
                <a:cs typeface="Arial"/>
              </a:rPr>
              <a:t>Field changes are shown</a:t>
            </a:r>
          </a:p>
        </p:txBody>
      </p:sp>
      <p:cxnSp>
        <p:nvCxnSpPr>
          <p:cNvPr id="65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343150" y="3895725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B5D7"/>
            </a:solidFill>
            <a:tailEnd type="arrow" w="sm" len="sm"/>
          </a:ln>
        </p:spPr>
      </p:cxnSp>
      <p:cxnSp>
        <p:nvCxnSpPr>
          <p:cNvPr id="66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181475" y="3895725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B5D7"/>
            </a:solidFill>
            <a:tailEnd type="arrow" w="sm" len="sm"/>
          </a:ln>
        </p:spPr>
      </p:cxnSp>
      <p:cxnSp>
        <p:nvCxnSpPr>
          <p:cNvPr id="67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019800" y="3895725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B5D7"/>
            </a:solidFill>
            <a:tailEnd type="arrow" w="sm" len="sm"/>
          </a:ln>
        </p:spPr>
      </p:cxnSp>
      <p:cxnSp>
        <p:nvCxnSpPr>
          <p:cNvPr id="68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858125" y="3895725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B5D7"/>
            </a:solidFill>
            <a:tailEnd type="arrow" w="sm" len="sm"/>
          </a:ln>
        </p:spPr>
      </p:cxnSp>
      <p:cxnSp>
        <p:nvCxnSpPr>
          <p:cNvPr id="69" name=""/>
          <p:cNvCxnSpPr>
            <a:stCxn xmlns:a="http://schemas.openxmlformats.org/drawingml/2006/main" id="22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9696450" y="3895725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B5D7"/>
            </a:solidFill>
            <a:tailEnd type="arrow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88F84E-63D7-40D9-A0FC-521AA676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8B5D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B5D7"/>
                </a:solidFill>
                <a:latin typeface="Arial"/>
                <a:ea typeface="Arial"/>
                <a:cs typeface="Arial"/>
              </a:rPr>
              <a:t>Manual edits follow the same review, save, and audit steps.</a:t>
            </a:r>
          </a:p>
        </p:txBody>
      </p:sp>
    </p:spTree>
    <p:extLst>
      <p:ext uri="{BB962C8B-B14F-4D97-AF65-F5344CB8AC3E}">
        <p14:creationId xmlns:p14="http://schemas.microsoft.com/office/powerpoint/2010/main" val="10391525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DD95F-62E4-436B-8452-D28AD91B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Entry Logs and operating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968C7-A149-4C26-81C5-024E267B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B5D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E1B3B-4567-4B69-873D-9D84E623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7C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7C92"/>
                </a:solidFill>
                <a:latin typeface="Arial"/>
                <a:ea typeface="Arial"/>
                <a:cs typeface="Arial"/>
              </a:rPr>
              <a:t>LOA MONITORING TOOL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2EA53-9BEC-4585-996B-0A4F7952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37C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7C9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127F6-553E-492A-9FBE-91B2C788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field-level record of saved account changes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DC0CE-FE86-4360-994D-7D094DBF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C9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C92"/>
                </a:solidFill>
                <a:latin typeface="Arial"/>
                <a:ea typeface="Arial"/>
                <a:cs typeface="Arial"/>
              </a:rPr>
              <a:t>Entry Logs reads the Dataverse log source and presents comparisons for each changed field.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A5A44-C48D-40F0-8745-7D8B865C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91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91C8"/>
                </a:solidFill>
                <a:latin typeface="Arial"/>
                <a:ea typeface="Arial"/>
                <a:cs typeface="Arial"/>
              </a:rPr>
              <a:t>Each change shows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77182-9F97-4115-B1DD-2F64B0B1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84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84F"/>
                </a:solidFill>
                <a:latin typeface="Arial"/>
                <a:ea typeface="Arial"/>
                <a:cs typeface="Arial"/>
              </a:rPr>
              <a:t>Field name</a:t>
            </a:r>
          </a:p>
          <a:p xmlns:a="http://schemas.openxmlformats.org/drawingml/2006/main">
            <a:pPr algn="l">
              <a:defRPr sz="1950" b="1">
                <a:solidFill>
                  <a:srgbClr val="21384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84F"/>
                </a:solidFill>
                <a:latin typeface="Arial"/>
                <a:ea typeface="Arial"/>
                <a:cs typeface="Arial"/>
              </a:rPr>
              <a:t>Previous value</a:t>
            </a:r>
          </a:p>
          <a:p xmlns:a="http://schemas.openxmlformats.org/drawingml/2006/main">
            <a:pPr algn="l">
              <a:defRPr sz="1950" b="1">
                <a:solidFill>
                  <a:srgbClr val="21384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84F"/>
                </a:solidFill>
                <a:latin typeface="Arial"/>
                <a:ea typeface="Arial"/>
                <a:cs typeface="Arial"/>
              </a:rPr>
              <a:t>New value</a:t>
            </a:r>
          </a:p>
          <a:p xmlns:a="http://schemas.openxmlformats.org/drawingml/2006/main">
            <a:pPr algn="l">
              <a:defRPr sz="1950" b="1">
                <a:solidFill>
                  <a:srgbClr val="21384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84F"/>
                </a:solidFill>
                <a:latin typeface="Arial"/>
                <a:ea typeface="Arial"/>
                <a:cs typeface="Arial"/>
              </a:rPr>
              <a:t>Action type and work week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D5CE3-6B1B-4BDA-8075-3C1465CA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1940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E3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E48687-B5DD-4A71-94DE-8CB6E089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956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91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91C8"/>
                </a:solidFill>
                <a:latin typeface="Arial"/>
                <a:ea typeface="Arial"/>
                <a:cs typeface="Arial"/>
              </a:rPr>
              <a:t>Use the table safely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5298B-E7CC-4F0B-A881-B6AB7CAA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718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84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384F"/>
                </a:solidFill>
                <a:latin typeface="Arial"/>
                <a:ea typeface="Arial"/>
                <a:cs typeface="Arial"/>
              </a:rPr>
              <a:t>Select a cell and press Ctrl+C to copy its displayed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1384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384F"/>
                </a:solidFill>
                <a:latin typeface="Arial"/>
                <a:ea typeface="Arial"/>
                <a:cs typeface="Arial"/>
              </a:rPr>
              <a:t>Revert is available only for eligible field changes. Calculated Balance and % Paid are not independent revert targets.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9E007-1E08-4F3E-93D6-E3434F6C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43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3E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FAD922-90B9-432A-8137-70DFEAED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Recommended rhythm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50A409-8B10-42C4-B21F-414E3186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578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1384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1384F"/>
                </a:solidFill>
                <a:latin typeface="Arial"/>
                <a:ea typeface="Arial"/>
                <a:cs typeface="Arial"/>
              </a:rPr>
              <a:t>Check connection  /  review changes  /  save explicitly  /  verify the audit trail</a:t>
            </a:r>
          </a:p>
        </p:txBody>
      </p:sp>
    </p:spTree>
    <p:extLst>
      <p:ext uri="{BB962C8B-B14F-4D97-AF65-F5344CB8AC3E}">
        <p14:creationId xmlns:p14="http://schemas.microsoft.com/office/powerpoint/2010/main" val="16538852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2026-09-30T10:46:19.7350000Z</dcterms:created>
  <dcterms:modified xsi:type="dcterms:W3CDTF">2026-09-30T10:46:19.7350000Z</dcterms:modified>
</coreProperties>
</file>